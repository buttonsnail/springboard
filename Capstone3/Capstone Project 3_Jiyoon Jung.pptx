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7ac87d4f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7ac87d4f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7d2e88b7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7d2e88b7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f206bb1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f206bb1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c7d2e88b7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c7d2e88b7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7dd91f78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7dd91f78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7d2e88b7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7d2e88b7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7d2e88b72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c7d2e88b72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7d2e88b7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7d2e88b7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7d2e88b7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7d2e88b7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7d2e88b72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7d2e88b72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7dd91f78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7dd91f78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7d2e88b72_0_1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7d2e88b72_0_1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7dd91f78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7dd91f78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7d2e88b72_0_1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c7d2e88b72_0_1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eCommerce Customer Segmentation</a:t>
            </a:r>
            <a:endParaRPr sz="302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Jiyoon Jung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69425" y="1342750"/>
            <a:ext cx="454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625" y="1163350"/>
            <a:ext cx="2816800" cy="28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69425" y="1698325"/>
            <a:ext cx="43815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C1C"/>
                </a:solidFill>
                <a:highlight>
                  <a:srgbClr val="FFFFFF"/>
                </a:highlight>
              </a:rPr>
              <a:t>How should we segment our customers into different groups?</a:t>
            </a:r>
            <a:endParaRPr b="1">
              <a:solidFill>
                <a:srgbClr val="1C1C1C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C1C1C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1C1C"/>
                </a:solidFill>
                <a:highlight>
                  <a:srgbClr val="FFFFFF"/>
                </a:highlight>
              </a:rPr>
              <a:t>What marketing strategies should be used for each group?</a:t>
            </a:r>
            <a:endParaRPr b="1">
              <a:solidFill>
                <a:srgbClr val="1C1C1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What factors might affect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customer segmentation?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/>
          <p:nvPr/>
        </p:nvSpPr>
        <p:spPr>
          <a:xfrm rot="-3202687">
            <a:off x="3968070" y="2612160"/>
            <a:ext cx="1011849" cy="1025856"/>
          </a:xfrm>
          <a:prstGeom prst="ellips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5" name="Google Shape;75;p15"/>
          <p:cNvGrpSpPr/>
          <p:nvPr/>
        </p:nvGrpSpPr>
        <p:grpSpPr>
          <a:xfrm>
            <a:off x="4172172" y="2337597"/>
            <a:ext cx="2333629" cy="2481017"/>
            <a:chOff x="4184863" y="1520198"/>
            <a:chExt cx="2958454" cy="3298347"/>
          </a:xfrm>
        </p:grpSpPr>
        <p:sp>
          <p:nvSpPr>
            <p:cNvPr id="76" name="Google Shape;76;p15"/>
            <p:cNvSpPr/>
            <p:nvPr/>
          </p:nvSpPr>
          <p:spPr>
            <a:xfrm rot="-3280088">
              <a:off x="4136321" y="2563569"/>
              <a:ext cx="3184127" cy="1211606"/>
            </a:xfrm>
            <a:custGeom>
              <a:rect b="b" l="l" r="r" t="t"/>
              <a:pathLst>
                <a:path extrusionOk="0" h="187" w="492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5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rect b="b" l="l" r="r" t="t"/>
              <a:pathLst>
                <a:path extrusionOk="0" h="194" w="44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307AF3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15"/>
            <p:cNvSpPr txBox="1"/>
            <p:nvPr/>
          </p:nvSpPr>
          <p:spPr>
            <a:xfrm rot="-3779206">
              <a:off x="4733052" y="2863735"/>
              <a:ext cx="1577952" cy="563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Frequency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3125331" y="1140448"/>
            <a:ext cx="2597973" cy="2424277"/>
            <a:chOff x="2857731" y="-71332"/>
            <a:chExt cx="3293577" cy="3222916"/>
          </a:xfrm>
        </p:grpSpPr>
        <p:sp>
          <p:nvSpPr>
            <p:cNvPr id="80" name="Google Shape;80;p15"/>
            <p:cNvSpPr/>
            <p:nvPr/>
          </p:nvSpPr>
          <p:spPr>
            <a:xfrm rot="-3280089">
              <a:off x="3410337" y="297186"/>
              <a:ext cx="2188366" cy="2485879"/>
            </a:xfrm>
            <a:custGeom>
              <a:rect b="b" l="l" r="r" t="t"/>
              <a:pathLst>
                <a:path extrusionOk="0" h="384" w="338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15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rect b="b" l="l" r="r" t="t"/>
              <a:pathLst>
                <a:path extrusionOk="0" h="352" w="288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0D5CD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3782825" y="1153125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Recency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2417111" y="2461313"/>
            <a:ext cx="2701193" cy="2348578"/>
            <a:chOff x="1959887" y="1684671"/>
            <a:chExt cx="3424433" cy="3122279"/>
          </a:xfrm>
        </p:grpSpPr>
        <p:sp>
          <p:nvSpPr>
            <p:cNvPr id="84" name="Google Shape;84;p15"/>
            <p:cNvSpPr/>
            <p:nvPr/>
          </p:nvSpPr>
          <p:spPr>
            <a:xfrm rot="-3280088">
              <a:off x="2859669" y="1740600"/>
              <a:ext cx="1624870" cy="3045726"/>
            </a:xfrm>
            <a:custGeom>
              <a:rect b="b" l="l" r="r" t="t"/>
              <a:pathLst>
                <a:path extrusionOk="0" h="470" w="251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A1C2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15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rect b="b" l="l" r="r" t="t"/>
              <a:pathLst>
                <a:path extrusionOk="0" h="411" w="254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0942A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15"/>
            <p:cNvSpPr txBox="1"/>
            <p:nvPr/>
          </p:nvSpPr>
          <p:spPr>
            <a:xfrm flipH="1" rot="3725110">
              <a:off x="2866277" y="2863871"/>
              <a:ext cx="1577671" cy="563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Monetary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7" name="Google Shape;87;p15"/>
          <p:cNvSpPr/>
          <p:nvPr/>
        </p:nvSpPr>
        <p:spPr>
          <a:xfrm>
            <a:off x="5200750" y="1323725"/>
            <a:ext cx="3239700" cy="8553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9E9E9E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days since the last customer transaction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723300" y="3564725"/>
            <a:ext cx="2849400" cy="8553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9E9E9E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number of transactions in the last 12 months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85425" y="2810400"/>
            <a:ext cx="2333700" cy="9063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total spending in the last 12 months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Information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075" y="1620325"/>
            <a:ext cx="4304891" cy="26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39625" y="1486775"/>
            <a:ext cx="35901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FF"/>
                </a:highlight>
              </a:rPr>
              <a:t>Data relationship: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The primary dataset is the </a:t>
            </a:r>
            <a:r>
              <a:rPr b="1" lang="en" sz="1200">
                <a:highlight>
                  <a:srgbClr val="FFFFFF"/>
                </a:highlight>
              </a:rPr>
              <a:t>"olist_orders_dataset</a:t>
            </a:r>
            <a:r>
              <a:rPr lang="en" sz="1200">
                <a:highlight>
                  <a:srgbClr val="FFFFFF"/>
                </a:highlight>
              </a:rPr>
              <a:t>," and the three databases are connected to it directly </a:t>
            </a:r>
            <a:r>
              <a:rPr b="1" lang="en" sz="1200">
                <a:highlight>
                  <a:srgbClr val="FFFFFF"/>
                </a:highlight>
              </a:rPr>
              <a:t>using the order_id</a:t>
            </a:r>
            <a:r>
              <a:rPr lang="en" sz="1200">
                <a:highlight>
                  <a:srgbClr val="FFFFFF"/>
                </a:highlight>
              </a:rPr>
              <a:t>. 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Additionally, the "</a:t>
            </a:r>
            <a:r>
              <a:rPr b="1" lang="en" sz="1200">
                <a:highlight>
                  <a:srgbClr val="FFFFFF"/>
                </a:highlight>
              </a:rPr>
              <a:t>olist_customer_dataset</a:t>
            </a:r>
            <a:r>
              <a:rPr lang="en" sz="1200">
                <a:highlight>
                  <a:srgbClr val="FFFFFF"/>
                </a:highlight>
              </a:rPr>
              <a:t>" is linked to the order dataset by using </a:t>
            </a:r>
            <a:r>
              <a:rPr b="1" lang="en" sz="1200">
                <a:highlight>
                  <a:srgbClr val="FFFFFF"/>
                </a:highlight>
              </a:rPr>
              <a:t>customer_id</a:t>
            </a:r>
            <a:r>
              <a:rPr lang="en" sz="1200">
                <a:highlight>
                  <a:srgbClr val="FFFFFF"/>
                </a:highlight>
              </a:rPr>
              <a:t> as the key.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FF"/>
                </a:highlight>
              </a:rPr>
              <a:t>Number of records: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Rows: </a:t>
            </a:r>
            <a:r>
              <a:rPr b="1" lang="en" sz="1200">
                <a:highlight>
                  <a:srgbClr val="FFFFFF"/>
                </a:highlight>
              </a:rPr>
              <a:t>119143</a:t>
            </a:r>
            <a:endParaRPr b="1"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Columns: </a:t>
            </a:r>
            <a:r>
              <a:rPr b="1" lang="en" sz="1200">
                <a:highlight>
                  <a:srgbClr val="FFFFFF"/>
                </a:highlight>
              </a:rPr>
              <a:t>39</a:t>
            </a:r>
            <a:endParaRPr b="1" sz="12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Exploration - Customer Zip Code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722225" y="3747200"/>
            <a:ext cx="687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customers are located along the East Coast, with more in southern Brazil than in northern Brazil</a:t>
            </a:r>
            <a:r>
              <a:rPr lang="en" sz="1000"/>
              <a:t>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Customer zip code align with the Brazil population map.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975" y="1170125"/>
            <a:ext cx="2483813" cy="24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188" y="1170125"/>
            <a:ext cx="2489506" cy="24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0" y="4730900"/>
            <a:ext cx="570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i="1" lang="en" sz="700"/>
              <a:t>Image, https://maps-brazil.com/img/0/brazil-population-density-map.jpg</a:t>
            </a:r>
            <a:endParaRPr i="1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Exploration - Sales Trend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77050" y="3573975"/>
            <a:ext cx="637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Overall, the sales trend indicates an increase from 2017 to 2018.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A sales spike in November 2017 around Black Friday season.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5" y="1170125"/>
            <a:ext cx="4317525" cy="205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700" y="1170125"/>
            <a:ext cx="4317526" cy="210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Exploration - Sales by days of week, Quarter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732675" y="4149600"/>
            <a:ext cx="754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Sales are generally stronger on weekdays and lower on weekends.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Typically, sales peak on Tuesdays and hit their lowest point on Saturdays.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25" y="1116627"/>
            <a:ext cx="3008875" cy="30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120" y="1284425"/>
            <a:ext cx="3621568" cy="25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Exploration - Order Size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732675" y="3921000"/>
            <a:ext cx="754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Over 90% of total orders consisted of </a:t>
            </a:r>
            <a:r>
              <a:rPr lang="en">
                <a:highlight>
                  <a:srgbClr val="FFFFFF"/>
                </a:highlight>
              </a:rPr>
              <a:t>single</a:t>
            </a:r>
            <a:r>
              <a:rPr lang="en">
                <a:highlight>
                  <a:srgbClr val="FFFFFF"/>
                </a:highlight>
              </a:rPr>
              <a:t> product orders.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The average oversize fluctuated between 1.00 and 1.25 during the 2017 - 2018 period. 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150" y="1155375"/>
            <a:ext cx="5304192" cy="262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42" y="1207700"/>
            <a:ext cx="21907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Data Exploration - Top product category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50" y="1410650"/>
            <a:ext cx="8688050" cy="17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311700" y="1099025"/>
            <a:ext cx="14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2017 Sales($)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00" y="3303102"/>
            <a:ext cx="1712392" cy="976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976" y="3261500"/>
            <a:ext cx="1785336" cy="101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9704" y="3261500"/>
            <a:ext cx="1785345" cy="101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1755" y="3278149"/>
            <a:ext cx="1785345" cy="106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1547" y="3303100"/>
            <a:ext cx="1661612" cy="10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628000" y="4343825"/>
            <a:ext cx="75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The top five sales categories account for about 70% of total Olist eCommerce sales.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Machine Learning Model - Overview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8" name="Google Shape;148;p22"/>
          <p:cNvGrpSpPr/>
          <p:nvPr/>
        </p:nvGrpSpPr>
        <p:grpSpPr>
          <a:xfrm>
            <a:off x="5632317" y="1189775"/>
            <a:ext cx="3305700" cy="3483050"/>
            <a:chOff x="5632317" y="1189775"/>
            <a:chExt cx="3305700" cy="3483050"/>
          </a:xfrm>
        </p:grpSpPr>
        <p:sp>
          <p:nvSpPr>
            <p:cNvPr id="149" name="Google Shape;149;p22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Customer</a:t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Segmentation</a:t>
              </a:r>
              <a:endParaRPr b="1" sz="1600">
                <a:solidFill>
                  <a:srgbClr val="FFFFFF"/>
                </a:solidFill>
              </a:endParaRPr>
            </a:p>
          </p:txBody>
        </p:sp>
        <p:sp>
          <p:nvSpPr>
            <p:cNvPr id="150" name="Google Shape;150;p22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r>
                <a:rPr lang="en"/>
                <a:t>. Define customers</a:t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2. CRM strategies for each customer group.</a:t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151" name="Google Shape;151;p22"/>
          <p:cNvGrpSpPr/>
          <p:nvPr/>
        </p:nvGrpSpPr>
        <p:grpSpPr>
          <a:xfrm>
            <a:off x="0" y="1189989"/>
            <a:ext cx="3546900" cy="3482836"/>
            <a:chOff x="0" y="1189989"/>
            <a:chExt cx="3546900" cy="3482836"/>
          </a:xfrm>
        </p:grpSpPr>
        <p:sp>
          <p:nvSpPr>
            <p:cNvPr id="152" name="Google Shape;152;p22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</a:rPr>
                <a:t>RFM Analysis &amp;</a:t>
              </a:r>
              <a:endParaRPr b="1" sz="1600">
                <a:solidFill>
                  <a:schemeClr val="lt1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</a:rPr>
                <a:t>Data pre-processing</a:t>
              </a:r>
              <a:endParaRPr b="1" sz="1600">
                <a:solidFill>
                  <a:schemeClr val="lt1"/>
                </a:solidFill>
              </a:endParaRPr>
            </a:p>
          </p:txBody>
        </p:sp>
        <p:sp>
          <p:nvSpPr>
            <p:cNvPr id="153" name="Google Shape;153;p22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1270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1.</a:t>
              </a:r>
              <a:r>
                <a:rPr b="1" lang="en"/>
                <a:t> RFM Analysis</a:t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2. </a:t>
              </a:r>
              <a:r>
                <a:rPr b="1" lang="en"/>
                <a:t>Log Transformation</a:t>
              </a:r>
              <a:r>
                <a:rPr lang="en"/>
                <a:t> to unskew data</a:t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3. Scaling using the </a:t>
              </a:r>
              <a:r>
                <a:rPr b="1" lang="en"/>
                <a:t>StandardScaler()</a:t>
              </a:r>
              <a:endParaRPr/>
            </a:p>
          </p:txBody>
        </p:sp>
      </p:grpSp>
      <p:grpSp>
        <p:nvGrpSpPr>
          <p:cNvPr id="154" name="Google Shape;154;p22"/>
          <p:cNvGrpSpPr/>
          <p:nvPr/>
        </p:nvGrpSpPr>
        <p:grpSpPr>
          <a:xfrm>
            <a:off x="2944204" y="1189775"/>
            <a:ext cx="3305700" cy="3483050"/>
            <a:chOff x="2944204" y="1189775"/>
            <a:chExt cx="3305700" cy="3483050"/>
          </a:xfrm>
        </p:grpSpPr>
        <p:sp>
          <p:nvSpPr>
            <p:cNvPr id="155" name="Google Shape;155;p22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</a:rPr>
                <a:t>K-mean Clustering</a:t>
              </a:r>
              <a:endParaRPr sz="1500">
                <a:solidFill>
                  <a:srgbClr val="FFFFFF"/>
                </a:solidFill>
              </a:endParaRPr>
            </a:p>
          </p:txBody>
        </p:sp>
        <p:sp>
          <p:nvSpPr>
            <p:cNvPr id="156" name="Google Shape;156;p22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1. Choose K using E</a:t>
              </a:r>
              <a:r>
                <a:rPr b="1" lang="en"/>
                <a:t>lbow method()</a:t>
              </a:r>
              <a:r>
                <a:rPr lang="en"/>
                <a:t> and </a:t>
              </a:r>
              <a:r>
                <a:rPr b="1" lang="en"/>
                <a:t>Silhouette method()</a:t>
              </a:r>
              <a:endParaRPr b="1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2. Assign a label</a:t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RFM Analysis - Recency, Frequency and Monetary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50" y="1067500"/>
            <a:ext cx="2627386" cy="195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7775" y="1067488"/>
            <a:ext cx="2706050" cy="19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4974" y="1087400"/>
            <a:ext cx="2680027" cy="19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900" y="3116875"/>
            <a:ext cx="1196500" cy="99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7175" y="3144276"/>
            <a:ext cx="1196504" cy="10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96251" y="3081613"/>
            <a:ext cx="1134897" cy="11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605400" y="4331475"/>
            <a:ext cx="754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Frequency and Monetary values are skewed.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Recency, Frequency and Monetary have different mean and </a:t>
            </a:r>
            <a:r>
              <a:rPr lang="en">
                <a:highlight>
                  <a:srgbClr val="FFFFFF"/>
                </a:highlight>
              </a:rPr>
              <a:t>standardization</a:t>
            </a:r>
            <a:r>
              <a:rPr lang="en">
                <a:highlight>
                  <a:srgbClr val="FFFFFF"/>
                </a:highlight>
              </a:rPr>
              <a:t>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RFM Analysis - Log Transformation and Scaling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605400" y="4331475"/>
            <a:ext cx="754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Unskewed the data using log transformation and boxcox.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Align the mean and standard deviation using the StandardScaler()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25" y="1132475"/>
            <a:ext cx="2447440" cy="1858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124" y="1138887"/>
            <a:ext cx="2419429" cy="18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3808" y="1138875"/>
            <a:ext cx="2419417" cy="1841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 rotWithShape="1">
          <a:blip r:embed="rId6">
            <a:alphaModFix/>
          </a:blip>
          <a:srcRect b="56981" l="0" r="0" t="0"/>
          <a:stretch/>
        </p:blipFill>
        <p:spPr>
          <a:xfrm>
            <a:off x="2948175" y="3160325"/>
            <a:ext cx="2987150" cy="8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K-mean Clustering - Choose K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50" y="1201325"/>
            <a:ext cx="3456625" cy="27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9075" y="1180525"/>
            <a:ext cx="3537943" cy="278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605400" y="4331475"/>
            <a:ext cx="75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Both Elbow method and Silhouette method shows ‘4’ is the </a:t>
            </a:r>
            <a:r>
              <a:rPr lang="en">
                <a:highlight>
                  <a:srgbClr val="FFFFFF"/>
                </a:highlight>
              </a:rPr>
              <a:t>best</a:t>
            </a:r>
            <a:r>
              <a:rPr lang="en">
                <a:highlight>
                  <a:srgbClr val="FFFFFF"/>
                </a:highlight>
              </a:rPr>
              <a:t> K for clustering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Customer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Segmentation - Using RFM scores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595050" y="1191375"/>
            <a:ext cx="820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New Customers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Recent purchasers (R≥3) with modest spend and purchase frequency (1-2). Encourage repeat purchases to increase value.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Potential Loyalists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Regular recent interaction (R≥3), showing promise with higher spend and frequency (2-3). Nurture towards loyalty.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Champions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Highly engaged and spend frequently (R≥3; frequency and value 3-4). Reward to sustain advocacy and loyalty.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Customers Needing Attention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Moderately recent interactions (R 1-3) with good spend and frequency (2-4). Tailor marketing to enhance engagement.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About to Sleep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Risk of disengagement (R 1-3), lower spend and frequency (1-2). Re-engage with relevant offers.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 Risk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Low recent engagement (R 0-1), previously valuable (frequency and value 2-4). Reconnect to prevent loss to competitors.</a:t>
            </a:r>
            <a:endParaRPr sz="1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Hibernating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Inactive, low engagement and value (R 0-1; frequency and value 1-2). Offer significant incentives to return.</a:t>
            </a:r>
            <a:endParaRPr sz="9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H. </a:t>
            </a:r>
            <a:r>
              <a:rPr b="1"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Lost</a:t>
            </a:r>
            <a:r>
              <a:rPr lang="en" sz="1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Do not meet criteria of other categories, indicating minimal engagement and value. May be unreachable or uninterested.</a:t>
            </a:r>
            <a:endParaRPr sz="1200"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225" y="2803253"/>
            <a:ext cx="4997574" cy="20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/>
        </p:nvSpPr>
        <p:spPr>
          <a:xfrm>
            <a:off x="593550" y="1465375"/>
            <a:ext cx="7956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75.41% Hibernating: Launch re-engagement campaigns with storytelling and offers on relevant products.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17.59% Hibernating: Use urgency in win-back campaigns and personalize based on purchase history to rekindle interest.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3.23% New Customer: Implement an onboarding sequence and offer time-sensitive discounts to encourage repeat purchases.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2.5% Customer Needing Attention: Employ data analytics for personalized recommendations and promotions to increase engagement.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1.02% Potential Loyalist: Introduce a loyalty program, engage with personalized recommendations, and encourage sharing experiences on social media.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0.03% Champions: Offer exclusive deals, solicit feedback, personalize communication, and reward with VIP club memberships or early product access.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Conclusions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